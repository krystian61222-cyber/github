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„Edukacja czy automatyzacja?”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01752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BDD7EE"/>
                </a:solidFill>
              </a:defRPr>
            </a:pPr>
            <a:r>
              <a:t>Wpływ korzystania z aplikacji fintechowych i robo-doradców na poziom wiedzy finansowej oraz świadomość ryzyka inwestorów indywidualnych.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30352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9DC3E6"/>
                </a:solidFill>
              </a:defRPr>
            </a:pPr>
            <a:r>
              <a:t>Projekt Badania Jakościowego: Fintech a świadomość inwestycyjna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5029200"/>
            <a:ext cx="3931920" cy="3657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864"/>
                </a:solidFill>
              </a:defRPr>
            </a:pPr>
            <a:r>
              <a:t>Uzasadnienie wyboru tematu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0"/>
              </a:spcBef>
              <a:spcAft>
                <a:spcPts val="400"/>
              </a:spcAft>
              <a:defRPr sz="2000" b="1">
                <a:solidFill>
                  <a:srgbClr val="2E75B6"/>
                </a:solidFill>
              </a:defRPr>
            </a:pPr>
            <a:r>
              <a:t>Dlaczego ten problem jest aktualny?</a:t>
            </a:r>
          </a:p>
          <a:p>
            <a:pPr lvl="1">
              <a:spcBef>
                <a:spcPts val="600"/>
              </a:spcBef>
              <a:spcAft>
                <a:spcPts val="400"/>
              </a:spcAft>
              <a:defRPr sz="1600" b="0">
                <a:solidFill>
                  <a:srgbClr val="333333"/>
                </a:solidFill>
              </a:defRPr>
            </a:pPr>
            <a:r>
              <a:t>Rynek przeżywa boom na aplikacje inwestycyjne (Revolut, eToro, XTB) oraz usługi robo-doradztwa (Finax, Portu)</a:t>
            </a:r>
          </a:p>
          <a:p>
            <a:pPr lvl="1">
              <a:spcBef>
                <a:spcPts val="600"/>
              </a:spcBef>
              <a:spcAft>
                <a:spcPts val="400"/>
              </a:spcAft>
              <a:defRPr sz="1600" b="0">
                <a:solidFill>
                  <a:srgbClr val="333333"/>
                </a:solidFill>
              </a:defRPr>
            </a:pPr>
            <a:r>
              <a:t>Niskie bariery wejścia, brak minimalnych kwot oraz „gamifikacja” interfejsów sprawiają, że inwestowanie stało się dostępne na jedno kliknięcie</a:t>
            </a:r>
          </a:p>
          <a:p>
            <a:pPr lvl="1">
              <a:spcBef>
                <a:spcPts val="600"/>
              </a:spcBef>
              <a:spcAft>
                <a:spcPts val="400"/>
              </a:spcAft>
              <a:defRPr sz="1600" b="0">
                <a:solidFill>
                  <a:srgbClr val="333333"/>
                </a:solidFill>
              </a:defRPr>
            </a:pPr>
            <a:r>
              <a:t>Rodzi to pytania o rzeczywistą świadomość ryzyka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2000" b="1">
                <a:solidFill>
                  <a:srgbClr val="2E75B6"/>
                </a:solidFill>
              </a:defRPr>
            </a:pPr>
            <a:r>
              <a:t>Kogo dotyczy?</a:t>
            </a:r>
          </a:p>
          <a:p>
            <a:pPr lvl="1">
              <a:spcBef>
                <a:spcPts val="600"/>
              </a:spcBef>
              <a:spcAft>
                <a:spcPts val="400"/>
              </a:spcAft>
              <a:defRPr sz="1600" b="0">
                <a:solidFill>
                  <a:srgbClr val="333333"/>
                </a:solidFill>
              </a:defRPr>
            </a:pPr>
            <a:r>
              <a:t>Początkujących inwestorów detalicznych oraz gospodarstw domowych</a:t>
            </a:r>
          </a:p>
          <a:p>
            <a:pPr lvl="1">
              <a:spcBef>
                <a:spcPts val="600"/>
              </a:spcBef>
              <a:spcAft>
                <a:spcPts val="400"/>
              </a:spcAft>
              <a:defRPr sz="1600" b="0">
                <a:solidFill>
                  <a:srgbClr val="333333"/>
                </a:solidFill>
              </a:defRPr>
            </a:pPr>
            <a:r>
              <a:t>Szukają alternatywy dla nisko oprocentowanych lokat bankowych</a:t>
            </a:r>
          </a:p>
          <a:p>
            <a:pPr lvl="1">
              <a:spcBef>
                <a:spcPts val="600"/>
              </a:spcBef>
              <a:spcAft>
                <a:spcPts val="400"/>
              </a:spcAft>
              <a:defRPr sz="1600" b="0">
                <a:solidFill>
                  <a:srgbClr val="333333"/>
                </a:solidFill>
              </a:defRPr>
            </a:pPr>
            <a:r>
              <a:t>Po raz pierwszy stykają się z rynkiem kapitałowym za pośrednictwem smartfona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2000" b="1">
                <a:solidFill>
                  <a:srgbClr val="2E75B6"/>
                </a:solidFill>
              </a:defRPr>
            </a:pPr>
            <a:r>
              <a:t>Jakie ma znaczenie?</a:t>
            </a:r>
          </a:p>
          <a:p>
            <a:pPr lvl="1">
              <a:spcBef>
                <a:spcPts val="600"/>
              </a:spcBef>
              <a:spcAft>
                <a:spcPts val="400"/>
              </a:spcAft>
              <a:defRPr sz="1600" b="0">
                <a:solidFill>
                  <a:srgbClr val="333333"/>
                </a:solidFill>
              </a:defRPr>
            </a:pPr>
            <a:r>
              <a:t>Dla regulatorów (KNF) – wiedza o skuteczności ostrzeżeń o ryzyku i potrzebie ochrony konsumenta</a:t>
            </a:r>
          </a:p>
          <a:p>
            <a:pPr lvl="1">
              <a:spcBef>
                <a:spcPts val="600"/>
              </a:spcBef>
              <a:spcAft>
                <a:spcPts val="400"/>
              </a:spcAft>
              <a:defRPr sz="1600" b="0">
                <a:solidFill>
                  <a:srgbClr val="333333"/>
                </a:solidFill>
              </a:defRPr>
            </a:pPr>
            <a:r>
              <a:t>Dla rynku finansowego – ocena ryzyka „paniki tłumu”</a:t>
            </a:r>
          </a:p>
          <a:p>
            <a:pPr lvl="1">
              <a:spcBef>
                <a:spcPts val="600"/>
              </a:spcBef>
              <a:spcAft>
                <a:spcPts val="400"/>
              </a:spcAft>
              <a:defRPr sz="1600" b="0">
                <a:solidFill>
                  <a:srgbClr val="333333"/>
                </a:solidFill>
              </a:defRPr>
            </a:pPr>
            <a:r>
              <a:t>Dla twórców aplikacji – wskazówki z zakresu odpowiedzialnego projektowania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864"/>
                </a:solidFill>
              </a:defRPr>
            </a:pPr>
            <a:r>
              <a:t>Cel badania i pytania badawcze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0"/>
              </a:spcBef>
              <a:spcAft>
                <a:spcPts val="400"/>
              </a:spcAft>
              <a:defRPr sz="2000" b="1">
                <a:solidFill>
                  <a:srgbClr val="2E75B6"/>
                </a:solidFill>
              </a:defRPr>
            </a:pPr>
            <a:r>
              <a:t>Cel:</a:t>
            </a:r>
          </a:p>
          <a:p>
            <a:pPr lvl="1">
              <a:spcBef>
                <a:spcPts val="600"/>
              </a:spcBef>
              <a:spcAft>
                <a:spcPts val="400"/>
              </a:spcAft>
              <a:defRPr sz="1500" b="0">
                <a:solidFill>
                  <a:srgbClr val="333333"/>
                </a:solidFill>
              </a:defRPr>
            </a:pPr>
            <a:r>
              <a:t>Zrozumienie, czy i w jaki sposób interakcja z nowoczesnymi platformami inwestycyjnymi kształtuje rzeczywistą wiedzę finansową użytkowników. Zbadanie, czy aplikacje te pełnią funkcję edukacyjną, budując świadomość rynkową, czy raczej zwalniają użytkownika z myślenia, usypiając czujność.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2000" b="1">
                <a:solidFill>
                  <a:srgbClr val="2E75B6"/>
                </a:solidFill>
              </a:defRPr>
            </a:pPr>
            <a:r>
              <a:t>Pytania badawcze:</a:t>
            </a:r>
          </a:p>
          <a:p>
            <a:pPr lvl="1">
              <a:spcBef>
                <a:spcPts val="600"/>
              </a:spcBef>
              <a:spcAft>
                <a:spcPts val="400"/>
              </a:spcAft>
              <a:defRPr sz="1500" b="0">
                <a:solidFill>
                  <a:srgbClr val="333333"/>
                </a:solidFill>
              </a:defRPr>
            </a:pPr>
            <a:r>
              <a:t>1. W jaki sposób interfejs i funkcjonalności aplikacji finansowych wpływają na poczucie zrozumienia rynku i pewność siebie inwestorów indywidualnych?</a:t>
            </a:r>
          </a:p>
          <a:p>
            <a:pPr lvl="1">
              <a:spcBef>
                <a:spcPts val="600"/>
              </a:spcBef>
              <a:spcAft>
                <a:spcPts val="400"/>
              </a:spcAft>
              <a:defRPr sz="1500" b="0">
                <a:solidFill>
                  <a:srgbClr val="333333"/>
                </a:solidFill>
              </a:defRPr>
            </a:pPr>
            <a:r>
              <a:t>2. Dlaczego użytkownicy podejmują decyzje o zakupie konkretnych instrumentów – w jakim stopniu opierają się na własnej wiedzy i analizie, a w jakim na sugestiach algorytmów i łatwości „kliknięcia”?</a:t>
            </a:r>
          </a:p>
          <a:p>
            <a:pPr lvl="1">
              <a:spcBef>
                <a:spcPts val="600"/>
              </a:spcBef>
              <a:spcAft>
                <a:spcPts val="400"/>
              </a:spcAft>
              <a:defRPr sz="1500" b="0">
                <a:solidFill>
                  <a:srgbClr val="333333"/>
                </a:solidFill>
              </a:defRPr>
            </a:pPr>
            <a:r>
              <a:t>3. Jak początkujący inwestorzy rozumieją i interpretują ryzyko utraty kapitału w środowisku aplikacji, które przypominają gry mobilne lub platformy społecznościowe?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864"/>
                </a:solidFill>
              </a:defRPr>
            </a:pPr>
            <a:r>
              <a:t>Charakterystyka badanych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0"/>
              </a:spcBef>
              <a:spcAft>
                <a:spcPts val="400"/>
              </a:spcAft>
              <a:defRPr sz="2000" b="1">
                <a:solidFill>
                  <a:srgbClr val="2E75B6"/>
                </a:solidFill>
              </a:defRPr>
            </a:pPr>
            <a:r>
              <a:t>Kto będzie rozmówcą:</a:t>
            </a:r>
          </a:p>
          <a:p>
            <a:pPr lvl="1">
              <a:spcBef>
                <a:spcPts val="600"/>
              </a:spcBef>
              <a:spcAft>
                <a:spcPts val="400"/>
              </a:spcAft>
              <a:defRPr sz="1600" b="0">
                <a:solidFill>
                  <a:srgbClr val="333333"/>
                </a:solidFill>
              </a:defRPr>
            </a:pPr>
            <a:r>
              <a:t>Osoby dorosłe (25–40 lat), zarządzające własnym budżetem domowym</a:t>
            </a:r>
          </a:p>
          <a:p>
            <a:pPr lvl="1">
              <a:spcBef>
                <a:spcPts val="600"/>
              </a:spcBef>
              <a:spcAft>
                <a:spcPts val="400"/>
              </a:spcAft>
              <a:defRPr sz="1600" b="0">
                <a:solidFill>
                  <a:srgbClr val="333333"/>
                </a:solidFill>
              </a:defRPr>
            </a:pPr>
            <a:r>
              <a:t>Bez wykształcenia kierunkowego (finansowego/ekonomicznego)</a:t>
            </a:r>
          </a:p>
          <a:p>
            <a:pPr>
              <a:spcBef>
                <a:spcPts val="1400"/>
              </a:spcBef>
              <a:spcAft>
                <a:spcPts val="400"/>
              </a:spcAft>
              <a:defRPr sz="2000" b="1">
                <a:solidFill>
                  <a:srgbClr val="2E75B6"/>
                </a:solidFill>
              </a:defRPr>
            </a:pPr>
            <a:r>
              <a:t>Kryteria włączające:</a:t>
            </a:r>
          </a:p>
          <a:p>
            <a:pPr lvl="1">
              <a:spcBef>
                <a:spcPts val="600"/>
              </a:spcBef>
              <a:spcAft>
                <a:spcPts val="400"/>
              </a:spcAft>
              <a:defRPr sz="1600" b="0">
                <a:solidFill>
                  <a:srgbClr val="333333"/>
                </a:solidFill>
              </a:defRPr>
            </a:pPr>
            <a:r>
              <a:t>Rozpoczęcie samodzielnego inwestowania za pośrednictwem smartfona w ciągu ostatnich 12–24 miesięcy</a:t>
            </a:r>
          </a:p>
          <a:p>
            <a:pPr lvl="1">
              <a:spcBef>
                <a:spcPts val="600"/>
              </a:spcBef>
              <a:spcAft>
                <a:spcPts val="400"/>
              </a:spcAft>
              <a:defRPr sz="1600" b="0">
                <a:solidFill>
                  <a:srgbClr val="333333"/>
                </a:solidFill>
              </a:defRPr>
            </a:pPr>
            <a:r>
              <a:t>Minimum 5 zrealizowanych transakcji</a:t>
            </a:r>
          </a:p>
          <a:p>
            <a:pPr>
              <a:spcBef>
                <a:spcPts val="1400"/>
              </a:spcBef>
              <a:spcAft>
                <a:spcPts val="400"/>
              </a:spcAft>
              <a:defRPr sz="2000" b="1">
                <a:solidFill>
                  <a:srgbClr val="2E75B6"/>
                </a:solidFill>
              </a:defRPr>
            </a:pPr>
            <a:r>
              <a:t>Wielkość próby:</a:t>
            </a:r>
          </a:p>
          <a:p>
            <a:pPr lvl="1">
              <a:spcBef>
                <a:spcPts val="600"/>
              </a:spcBef>
              <a:spcAft>
                <a:spcPts val="400"/>
              </a:spcAft>
              <a:defRPr sz="1600" b="0">
                <a:solidFill>
                  <a:srgbClr val="333333"/>
                </a:solidFill>
              </a:defRPr>
            </a:pPr>
            <a:r>
              <a:t>12–15 osób (nasycenie informacyjne)</a:t>
            </a:r>
          </a:p>
          <a:p>
            <a:pPr>
              <a:spcBef>
                <a:spcPts val="1400"/>
              </a:spcBef>
              <a:spcAft>
                <a:spcPts val="400"/>
              </a:spcAft>
              <a:defRPr sz="2000" b="1">
                <a:solidFill>
                  <a:srgbClr val="2E75B6"/>
                </a:solidFill>
              </a:defRPr>
            </a:pPr>
            <a:r>
              <a:t>Dlaczego ta grupa:</a:t>
            </a:r>
          </a:p>
          <a:p>
            <a:pPr lvl="1">
              <a:spcBef>
                <a:spcPts val="600"/>
              </a:spcBef>
              <a:spcAft>
                <a:spcPts val="400"/>
              </a:spcAft>
              <a:defRPr sz="1600" b="0">
                <a:solidFill>
                  <a:srgbClr val="333333"/>
                </a:solidFill>
              </a:defRPr>
            </a:pPr>
            <a:r>
              <a:t>„Świeży” inwestorzy detaliczni są najbardziej narażeni na skutki braku edukacji, a ich nawyki dopiero się kształtują</a:t>
            </a:r>
          </a:p>
          <a:p>
            <a:pPr>
              <a:spcBef>
                <a:spcPts val="1400"/>
              </a:spcBef>
              <a:spcAft>
                <a:spcPts val="400"/>
              </a:spcAft>
              <a:defRPr sz="2000" b="1">
                <a:solidFill>
                  <a:srgbClr val="2E75B6"/>
                </a:solidFill>
              </a:defRPr>
            </a:pPr>
            <a:r>
              <a:t>Dobór próby:</a:t>
            </a:r>
          </a:p>
          <a:p>
            <a:pPr lvl="1">
              <a:spcBef>
                <a:spcPts val="600"/>
              </a:spcBef>
              <a:spcAft>
                <a:spcPts val="400"/>
              </a:spcAft>
              <a:defRPr sz="1600" b="0">
                <a:solidFill>
                  <a:srgbClr val="333333"/>
                </a:solidFill>
              </a:defRPr>
            </a:pPr>
            <a:r>
              <a:t>Celowy (selekcja według kryteriów stażu i używanych aplikacji) połączony z metodą kuli śnieżnej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864"/>
                </a:solidFill>
              </a:defRPr>
            </a:pPr>
            <a:r>
              <a:t>Dlaczego wywiad pogłębiony (IDI)?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0"/>
              </a:spcBef>
              <a:spcAft>
                <a:spcPts val="400"/>
              </a:spcAft>
              <a:defRPr sz="1800" b="0">
                <a:solidFill>
                  <a:srgbClr val="333333"/>
                </a:solidFill>
              </a:defRPr>
            </a:pPr>
            <a:r>
              <a:t>Finanse osobiste (straty, błędy, brak wiedzy) to tematy mocno wrażliwe – w grupie uczestnicy ulegaliby presji społecznej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800" b="0">
                <a:solidFill>
                  <a:srgbClr val="333333"/>
                </a:solidFill>
              </a:defRPr>
            </a:pPr>
            <a:r>
              <a:t>Zależy nam na bardzo dokładnym prześledzeniu zachowania użytkownika i jego interakcji z aplikacją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800" b="0">
                <a:solidFill>
                  <a:srgbClr val="333333"/>
                </a:solidFill>
              </a:defRPr>
            </a:pPr>
            <a:r>
              <a:t>Chcemy, żeby rozmówca odtworzył proces podejmowania konkretnej decyzji inwestycyjnej krok po kroku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800" b="0">
                <a:solidFill>
                  <a:srgbClr val="333333"/>
                </a:solidFill>
              </a:defRPr>
            </a:pPr>
            <a:r>
              <a:t>Tylko w IDI mamy swobodę, żeby na bieżąco reagować, dopytywać o detale i pogłębiać wątki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864"/>
                </a:solidFill>
              </a:defRPr>
            </a:pPr>
            <a:r>
              <a:t>Scenariusz wywiadu – A. Wprowadzenie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0"/>
              </a:spcBef>
              <a:spcAft>
                <a:spcPts val="400"/>
              </a:spcAft>
              <a:defRPr sz="1800" b="0">
                <a:solidFill>
                  <a:srgbClr val="333333"/>
                </a:solidFill>
              </a:defRPr>
            </a:pPr>
            <a:r>
              <a:t>1. Jakie były Pana/Pani główne motywacje, żeby w ogóle zacząć lokować swoje oszczędności poza standardowym kontem w banku?</a:t>
            </a:r>
          </a:p>
          <a:p>
            <a:pPr>
              <a:spcBef>
                <a:spcPts val="2000"/>
              </a:spcBef>
              <a:spcAft>
                <a:spcPts val="400"/>
              </a:spcAft>
              <a:defRPr sz="1800" b="0">
                <a:solidFill>
                  <a:srgbClr val="333333"/>
                </a:solidFill>
              </a:defRPr>
            </a:pPr>
            <a:r>
              <a:t>2. Z jakich aplikacji lub platform inwestycyjnych Pan(i) obecnie korzysta i dlaczego padł wybór akurat na nie?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864"/>
                </a:solidFill>
              </a:defRPr>
            </a:pPr>
            <a:r>
              <a:t>Scenariusz wywiadu – B. Część główna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333333"/>
                </a:solidFill>
              </a:defRPr>
            </a:pPr>
            <a:r>
              <a:t>3. Proszę opowiedzieć mi o swojej pierwszej transakcji lub założeniu portfela w aplikacji. Jak to wyglądało krok po kroku i jak się Pan(i) wtedy czuł(a)?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500" b="0">
                <a:solidFill>
                  <a:srgbClr val="333333"/>
                </a:solidFill>
              </a:defRPr>
            </a:pPr>
            <a:r>
              <a:t>4. W jaki sposób aplikacja, z której Pan(i) korzysta, pomaga (lub nie) zrozumieć, w co dokładnie inwestowane są pieniądze?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500" b="0">
                <a:solidFill>
                  <a:srgbClr val="333333"/>
                </a:solidFill>
              </a:defRPr>
            </a:pPr>
            <a:r>
              <a:t>5. Zdarzyło się Panu(i) podjąć decyzję o zainwestowaniu w coś pod wpływem impulsu, bo zobaczył(a) Pan(i) to na ekranie głównym aplikacji?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500" b="0">
                <a:solidFill>
                  <a:srgbClr val="333333"/>
                </a:solidFill>
              </a:defRPr>
            </a:pPr>
            <a:r>
              <a:t>6. Gdyby miał(a) Pan(i) swoimi słowami wyjaśnić, czym jest instrument, w który Pan(i) inwestuje (np. ETF, akcja) – jak by to Pan(i) opisał(a)?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500" b="0">
                <a:solidFill>
                  <a:srgbClr val="333333"/>
                </a:solidFill>
              </a:defRPr>
            </a:pPr>
            <a:r>
              <a:t>7. Aplikacje często pokazują komunikaty o ryzyku utraty kapitału. Jak Pan(i) reaguje na te komunikaty w momencie podejmowania decyzji o zakupie?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500" b="0">
                <a:solidFill>
                  <a:srgbClr val="333333"/>
                </a:solidFill>
              </a:defRPr>
            </a:pPr>
            <a:r>
              <a:t>8. Co się dzieje, gdy wchodzi Pan(i) do aplikacji i widzi, że cały wykres portfela jest „na czerwono”? Co Pan(i) wtedy robi i dlaczego?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500" b="0">
                <a:solidFill>
                  <a:srgbClr val="333333"/>
                </a:solidFill>
              </a:defRPr>
            </a:pPr>
            <a:r>
              <a:t>9. Czy uważa Pan(i), że od kiedy używa Pan(i) tej aplikacji, Pana/Pani wiedza o finansach i ekonomii wzrosła? Skąd to przekonanie?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864"/>
                </a:solidFill>
              </a:defRPr>
            </a:pPr>
            <a:r>
              <a:t>Scenariusz wywiadu – C. Zakończenie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0"/>
              </a:spcBef>
              <a:spcAft>
                <a:spcPts val="400"/>
              </a:spcAft>
              <a:defRPr sz="1700" b="0">
                <a:solidFill>
                  <a:srgbClr val="333333"/>
                </a:solidFill>
              </a:defRPr>
            </a:pPr>
            <a:r>
              <a:t>10. Czy uważa Pan(i), że takie aplikacje powinny przed pozwoleniem na zakup sprawdzać wiedzę użytkownika (np. krótkim quizem), czy inwestowanie powinno być dostępne dla każdego bez ograniczeń? Dlaczego?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700" b="0">
                <a:solidFill>
                  <a:srgbClr val="333333"/>
                </a:solidFill>
              </a:defRPr>
            </a:pPr>
            <a:r>
              <a:t>11. Gdyby znajomy bez żadnej wiedzy o finansach zapytał Pana(ią), czy warto zacząć korzystać z tej samej aplikacji – na co uważałby/aby Pan(i) za konieczne, by go ostrzec?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700" b="0">
                <a:solidFill>
                  <a:srgbClr val="333333"/>
                </a:solidFill>
              </a:defRPr>
            </a:pPr>
            <a:r>
              <a:t>12. Zbliżamy się do końca naszej rozmowy. Czy jest jeszcze coś ważnego w kwestii Pana/Pani doświadczeń z tymi aplikacjami, o co nie zapytałem?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864"/>
                </a:solidFill>
              </a:defRPr>
            </a:pPr>
            <a:r>
              <a:t>Ograniczenia badania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0"/>
              </a:spcBef>
              <a:spcAft>
                <a:spcPts val="400"/>
              </a:spcAft>
              <a:defRPr sz="2000" b="1">
                <a:solidFill>
                  <a:srgbClr val="2E75B6"/>
                </a:solidFill>
              </a:defRPr>
            </a:pPr>
            <a:r>
              <a:t>Efekt Dunninga-Krugera</a:t>
            </a:r>
          </a:p>
          <a:p>
            <a:pPr lvl="1">
              <a:spcBef>
                <a:spcPts val="600"/>
              </a:spcBef>
              <a:spcAft>
                <a:spcPts val="400"/>
              </a:spcAft>
              <a:defRPr sz="1600" b="0">
                <a:solidFill>
                  <a:srgbClr val="333333"/>
                </a:solidFill>
              </a:defRPr>
            </a:pPr>
            <a:r>
              <a:t>Badani mogą znacząco przeceniać swoją wiedzę finansową, szczególnie w okresach hossy</a:t>
            </a:r>
          </a:p>
          <a:p>
            <a:pPr lvl="1">
              <a:spcBef>
                <a:spcPts val="600"/>
              </a:spcBef>
              <a:spcAft>
                <a:spcPts val="400"/>
              </a:spcAft>
              <a:defRPr sz="1600" b="0">
                <a:solidFill>
                  <a:srgbClr val="333333"/>
                </a:solidFill>
              </a:defRPr>
            </a:pPr>
            <a:r>
              <a:t>Deklaratywny wzrost wiedzy może być w rzeczywistości tylko złudzeniem kontroli</a:t>
            </a:r>
          </a:p>
          <a:p>
            <a:pPr>
              <a:spcBef>
                <a:spcPts val="1400"/>
              </a:spcBef>
              <a:spcAft>
                <a:spcPts val="400"/>
              </a:spcAft>
              <a:defRPr sz="2000" b="1">
                <a:solidFill>
                  <a:srgbClr val="2E75B6"/>
                </a:solidFill>
              </a:defRPr>
            </a:pPr>
            <a:r>
              <a:t>Trudność w ewaluacji „obiektywnej” wiedzy</a:t>
            </a:r>
          </a:p>
          <a:p>
            <a:pPr lvl="1">
              <a:spcBef>
                <a:spcPts val="600"/>
              </a:spcBef>
              <a:spcAft>
                <a:spcPts val="400"/>
              </a:spcAft>
              <a:defRPr sz="1600" b="0">
                <a:solidFill>
                  <a:srgbClr val="333333"/>
                </a:solidFill>
              </a:defRPr>
            </a:pPr>
            <a:r>
              <a:t>Wywiad jakościowy nie jest testem wiedzy</a:t>
            </a:r>
          </a:p>
          <a:p>
            <a:pPr lvl="1">
              <a:spcBef>
                <a:spcPts val="600"/>
              </a:spcBef>
              <a:spcAft>
                <a:spcPts val="400"/>
              </a:spcAft>
              <a:defRPr sz="1600" b="0">
                <a:solidFill>
                  <a:srgbClr val="333333"/>
                </a:solidFill>
              </a:defRPr>
            </a:pPr>
            <a:r>
              <a:t>Trudno wyważyć dopytywanie o definicje, tak aby badany nie poczuł się jak na egzaminie</a:t>
            </a:r>
          </a:p>
          <a:p>
            <a:pPr>
              <a:spcBef>
                <a:spcPts val="1400"/>
              </a:spcBef>
              <a:spcAft>
                <a:spcPts val="400"/>
              </a:spcAft>
              <a:defRPr sz="2000" b="1">
                <a:solidFill>
                  <a:srgbClr val="2E75B6"/>
                </a:solidFill>
              </a:defRPr>
            </a:pPr>
            <a:r>
              <a:t>Bariera technologiczna</a:t>
            </a:r>
          </a:p>
          <a:p>
            <a:pPr lvl="1">
              <a:spcBef>
                <a:spcPts val="600"/>
              </a:spcBef>
              <a:spcAft>
                <a:spcPts val="400"/>
              </a:spcAft>
              <a:defRPr sz="1600" b="0">
                <a:solidFill>
                  <a:srgbClr val="333333"/>
                </a:solidFill>
              </a:defRPr>
            </a:pPr>
            <a:r>
              <a:t>Aplikacje różnią się interfejsem</a:t>
            </a:r>
          </a:p>
          <a:p>
            <a:pPr lvl="1">
              <a:spcBef>
                <a:spcPts val="600"/>
              </a:spcBef>
              <a:spcAft>
                <a:spcPts val="400"/>
              </a:spcAft>
              <a:defRPr sz="1600" b="0">
                <a:solidFill>
                  <a:srgbClr val="333333"/>
                </a:solidFill>
              </a:defRPr>
            </a:pPr>
            <a:r>
              <a:t>Odpowiedzi badanych mogą być mocno uzależnione od konkretnego rozwiązania (robo-doradca vs aktywny broker)</a:t>
            </a:r>
          </a:p>
          <a:p>
            <a:pPr lvl="1">
              <a:spcBef>
                <a:spcPts val="600"/>
              </a:spcBef>
              <a:spcAft>
                <a:spcPts val="400"/>
              </a:spcAft>
              <a:defRPr sz="1600" b="0">
                <a:solidFill>
                  <a:srgbClr val="333333"/>
                </a:solidFill>
              </a:defRPr>
            </a:pPr>
            <a:r>
              <a:t>Utrudni to znalezienie wspólnych mianowników na etapie analizy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