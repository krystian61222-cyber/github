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2194560"/>
            <a:ext cx="4876495" cy="27432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Segoe UI"/>
              </a:defRPr>
            </a:pPr>
            <a:r>
              <a:t>Edukacja czy automatyzacja?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520440"/>
            <a:ext cx="4876495" cy="27432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534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>
                <a:solidFill>
                  <a:srgbClr val="B0B8C4"/>
                </a:solidFill>
                <a:latin typeface="Segoe UI"/>
              </a:defRPr>
            </a:pPr>
            <a:r>
              <a:t>Wpływ korzystania z aplikacji fintechowych i robo-doradców</a:t>
            </a:r>
          </a:p>
          <a:p>
            <a:pPr algn="ctr">
              <a:spcAft>
                <a:spcPts val="400"/>
              </a:spcAft>
              <a:defRPr sz="1600">
                <a:solidFill>
                  <a:srgbClr val="B0B8C4"/>
                </a:solidFill>
                <a:latin typeface="Segoe UI"/>
              </a:defRPr>
            </a:pPr>
            <a:r>
              <a:t>na poziom wiedzy finansowej oraz świadomość ryzyka</a:t>
            </a:r>
          </a:p>
          <a:p>
            <a:pPr algn="ctr">
              <a:spcAft>
                <a:spcPts val="400"/>
              </a:spcAft>
              <a:defRPr sz="1600">
                <a:solidFill>
                  <a:srgbClr val="B0B8C4"/>
                </a:solidFill>
                <a:latin typeface="Segoe UI"/>
              </a:defRPr>
            </a:pPr>
            <a:r>
              <a:t>inwestorów indywidualnych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85216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B8D"/>
                </a:solidFill>
                <a:latin typeface="Segoe UI"/>
              </a:defRPr>
            </a:pPr>
            <a:r>
              <a:t>Projekt Badania Jakościowego  |  Fintech a świadomość inwestycyjna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Uzasadnienie wyboru tematu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08176"/>
            <a:ext cx="11064240" cy="5029200"/>
          </a:xfrm>
          <a:prstGeom prst="round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6240" y="1737360"/>
            <a:ext cx="18288" cy="4297680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79" y="1737360"/>
            <a:ext cx="18288" cy="4297680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Dlaczego aktualny?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Boom na aplikacje inwestycyjne
   (Revolut, eToro, XTB)</a:t>
            </a:r>
          </a:p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Rozwoj robo-doradztwa
   (Finax, Portu)</a:t>
            </a:r>
          </a:p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Niskie bariery wejscia
   i gamifikacja inwestowania</a:t>
            </a:r>
          </a:p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Rosna pytania o swiadomosc
   ryzyka wsrod nowych uzytkownikow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Kogo dotyczy?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Poczatkujacych inwestorow
   detalicznych</a:t>
            </a:r>
          </a:p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Osoby szukajace alternatywy
   dla lokat bankowych</a:t>
            </a:r>
          </a:p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Uzytkownikow, ktorych pierwszy
   kontakt z rynkiem jest przez
   smartfon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Jakie ma znaczenie?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Dla KNF: ochrona konsumenta
   i regulacje rynku</a:t>
            </a:r>
          </a:p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Dla rynku: ryzyko paniki tlumu
   i niestabilnosci</a:t>
            </a:r>
          </a:p>
          <a:p>
            <a:pPr>
              <a:spcAft>
                <a:spcPts val="10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1A1A2E"/>
                </a:solidFill>
                <a:latin typeface="Segoe UI"/>
              </a:rPr>
              <a:t>Dla tworcow aplikacji:
   odpowiedzialne projektowanie
   interfejsow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Cel badania i pytania badawcze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08176"/>
            <a:ext cx="11064240" cy="5029200"/>
          </a:xfrm>
          <a:prstGeom prst="round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Segoe UI"/>
              </a:defRPr>
            </a:pPr>
            <a:r>
              <a:t>CEL BADANIA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5A"/>
                </a:solidFill>
                <a:latin typeface="Segoe UI"/>
              </a:defRPr>
            </a:pPr>
            <a:r>
              <a:t>Zrozumienie, w jaki sposob interakcja z platformami fintechowymi i robo-doradcami ksztaltuje (lub nie) wiedze finansowa oraz swiadomosc ryzyka wsrod poczatkujacych inwestorow indywidualnych. Zbadanie, czy aplikacje pelnia role edukacyjna, czy raczej usypiaja czujnosc uzytkownikow.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200400"/>
            <a:ext cx="10058400" cy="18288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Segoe UI"/>
              </a:defRPr>
            </a:pPr>
            <a:r>
              <a:t>PYTANIA BADAWCZE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1.  </a:t>
            </a:r>
            <a:r>
              <a:rPr sz="1200">
                <a:solidFill>
                  <a:srgbClr val="1A1A2E"/>
                </a:solidFill>
                <a:latin typeface="Segoe UI"/>
              </a:rPr>
              <a:t>W jaki sposob interfejs aplikacji inwestycyjnych wplywa na subiektywne poczucie zrozumienia mechanizmow rynkowych?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2.  </a:t>
            </a:r>
            <a:r>
              <a:rPr sz="1200">
                <a:solidFill>
                  <a:srgbClr val="1A1A2E"/>
                </a:solidFill>
                <a:latin typeface="Segoe UI"/>
              </a:rPr>
              <a:t>Dlaczego uzytkownicy podejmuja decyzje inwestycyjne - na podstawie wlasnej wiedzy czy w oparciu o algorytmy i rekomendacje aplikacji?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3.  </a:t>
            </a:r>
            <a:r>
              <a:rPr sz="1200">
                <a:solidFill>
                  <a:srgbClr val="1A1A2E"/>
                </a:solidFill>
                <a:latin typeface="Segoe UI"/>
              </a:rPr>
              <a:t>Jak poczatkujacy inwestorzy interpretuja i oceniaja ryzyko w srodowisku cyfrowym przypominajacym gry?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Charakterystyka badanych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08176"/>
            <a:ext cx="11064240" cy="5029200"/>
          </a:xfrm>
          <a:prstGeom prst="round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B4D8"/>
                </a:solidFill>
                <a:latin typeface="Segoe UI"/>
              </a:rPr>
              <a:t>Kto?  </a:t>
            </a:r>
            <a:r>
              <a:rPr sz="1200">
                <a:solidFill>
                  <a:srgbClr val="1A1A2E"/>
                </a:solidFill>
                <a:latin typeface="Segoe UI"/>
              </a:rPr>
              <a:t>Osoby w wieku 25-40 lat, bez formalnego wyksztalcenia finansowego, aktywnie korzystajace z aplikacji inwestycyjnych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10058400" cy="18288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B4D8"/>
                </a:solidFill>
                <a:latin typeface="Segoe UI"/>
              </a:rPr>
              <a:t>Kryteria doboru:  </a:t>
            </a:r>
            <a:r>
              <a:rPr sz="1200">
                <a:solidFill>
                  <a:srgbClr val="1A1A2E"/>
                </a:solidFill>
                <a:latin typeface="Segoe UI"/>
              </a:rPr>
              <a:t>Inwestowanie za posrednictwem smartfona przez 12-24 miesiace, minimum 5 zrealizowanych transakcji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10058400" cy="18288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B4D8"/>
                </a:solidFill>
                <a:latin typeface="Segoe UI"/>
              </a:rPr>
              <a:t>Wielkosc proby:  </a:t>
            </a:r>
            <a:r>
              <a:rPr sz="1200">
                <a:solidFill>
                  <a:srgbClr val="1A1A2E"/>
                </a:solidFill>
                <a:latin typeface="Segoe UI"/>
              </a:rPr>
              <a:t>12-15 osob - swiezi inwestorzy, najbardziej narazeni na ryzyko nieswiadomych decyzji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10058400" cy="18288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B4D8"/>
                </a:solidFill>
                <a:latin typeface="Segoe UI"/>
              </a:rPr>
              <a:t>Dlaczego ta grupa?  </a:t>
            </a:r>
            <a:r>
              <a:rPr sz="1200">
                <a:solidFill>
                  <a:srgbClr val="1A1A2E"/>
                </a:solidFill>
                <a:latin typeface="Segoe UI"/>
              </a:rPr>
              <a:t>Najbardziej podatna na wplyw interfejsu aplikacji, brak doswiadczenia z tradycyjnym doradztwem finansowym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120640"/>
            <a:ext cx="10058400" cy="18288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B4D8"/>
                </a:solidFill>
                <a:latin typeface="Segoe UI"/>
              </a:rPr>
              <a:t>Dobor proby:  </a:t>
            </a:r>
            <a:r>
              <a:rPr sz="1200">
                <a:solidFill>
                  <a:srgbClr val="1A1A2E"/>
                </a:solidFill>
                <a:latin typeface="Segoe UI"/>
              </a:rPr>
              <a:t>Celowy + metoda kuli snieznej (rekrutacja przez spolecznosci inwestorow online)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Dlaczego wywiad pogłębiony (IDI)?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08176"/>
            <a:ext cx="11064240" cy="5029200"/>
          </a:xfrm>
          <a:prstGeom prst="round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9875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300" b="1">
                <a:solidFill>
                  <a:srgbClr val="00B4D8"/>
                </a:solidFill>
                <a:latin typeface="Segoe UI"/>
              </a:rPr>
              <a:t>1.  </a:t>
            </a:r>
            <a:r>
              <a:rPr sz="1300">
                <a:solidFill>
                  <a:srgbClr val="1A1A2E"/>
                </a:solidFill>
                <a:latin typeface="Segoe UI"/>
              </a:rPr>
              <a:t>Finanse osobiste to tematy wrazliwe - w grupie wystepuje presja spoleczna, ktora znieksztalca odpowiedzi</a:t>
            </a:r>
          </a:p>
          <a:p>
            <a:pPr>
              <a:spcAft>
                <a:spcPts val="1800"/>
              </a:spcAft>
            </a:pPr>
            <a:r>
              <a:rPr sz="1300" b="1">
                <a:solidFill>
                  <a:srgbClr val="00B4D8"/>
                </a:solidFill>
                <a:latin typeface="Segoe UI"/>
              </a:rPr>
              <a:t>2.  </a:t>
            </a:r>
            <a:r>
              <a:rPr sz="1300">
                <a:solidFill>
                  <a:srgbClr val="1A1A2E"/>
                </a:solidFill>
                <a:latin typeface="Segoe UI"/>
              </a:rPr>
              <a:t>Umozliwia dokladne prosledzenie zachowania respondenta i jego interakcji z aplikacja krok po kroku</a:t>
            </a:r>
          </a:p>
          <a:p>
            <a:pPr>
              <a:spcAft>
                <a:spcPts val="1800"/>
              </a:spcAft>
            </a:pPr>
            <a:r>
              <a:rPr sz="1300" b="1">
                <a:solidFill>
                  <a:srgbClr val="00B4D8"/>
                </a:solidFill>
                <a:latin typeface="Segoe UI"/>
              </a:rPr>
              <a:t>3.  </a:t>
            </a:r>
            <a:r>
              <a:rPr sz="1300">
                <a:solidFill>
                  <a:srgbClr val="1A1A2E"/>
                </a:solidFill>
                <a:latin typeface="Segoe UI"/>
              </a:rPr>
              <a:t>Pozwala na odtworzenie calego procesu podejmowania decyzji inwestycyjnej w naturalny sposob</a:t>
            </a:r>
          </a:p>
          <a:p>
            <a:pPr>
              <a:spcAft>
                <a:spcPts val="1800"/>
              </a:spcAft>
            </a:pPr>
            <a:r>
              <a:rPr sz="1300" b="1">
                <a:solidFill>
                  <a:srgbClr val="00B4D8"/>
                </a:solidFill>
                <a:latin typeface="Segoe UI"/>
              </a:rPr>
              <a:t>4.  </a:t>
            </a:r>
            <a:r>
              <a:rPr sz="1300">
                <a:solidFill>
                  <a:srgbClr val="1A1A2E"/>
                </a:solidFill>
                <a:latin typeface="Segoe UI"/>
              </a:rPr>
              <a:t>Daje swobode reagowania, dopytywania i poglebiania interesujacych watkow w czasie rzeczywistym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Scenariusz wywiadu – A. Wprowadzenie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08176"/>
            <a:ext cx="11064240" cy="5029200"/>
          </a:xfrm>
          <a:prstGeom prst="round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4A5A"/>
                </a:solidFill>
                <a:latin typeface="Segoe UI"/>
              </a:defRPr>
            </a:pPr>
            <a:r>
              <a:t>PYTANIA OTWIERAJACE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9875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</a:pPr>
            <a:r>
              <a:rPr sz="1400" b="1">
                <a:solidFill>
                  <a:srgbClr val="00B4D8"/>
                </a:solidFill>
                <a:latin typeface="Segoe UI"/>
              </a:rPr>
              <a:t>1.  </a:t>
            </a:r>
            <a:r>
              <a:rPr sz="1400">
                <a:solidFill>
                  <a:srgbClr val="1A1A2E"/>
                </a:solidFill>
                <a:latin typeface="Segoe UI"/>
              </a:rPr>
              <a:t>Jakie byly Pana/Pani motywacje, zeby zaczac lokowac oszczednosci poza kontem bankowym lub lokata?</a:t>
            </a:r>
          </a:p>
          <a:p>
            <a:pPr>
              <a:spcAft>
                <a:spcPts val="2400"/>
              </a:spcAft>
            </a:pPr>
            <a:r>
              <a:rPr sz="1400" b="1">
                <a:solidFill>
                  <a:srgbClr val="00B4D8"/>
                </a:solidFill>
                <a:latin typeface="Segoe UI"/>
              </a:rPr>
              <a:t>2.  </a:t>
            </a:r>
            <a:r>
              <a:rPr sz="1400">
                <a:solidFill>
                  <a:srgbClr val="1A1A2E"/>
                </a:solidFill>
                <a:latin typeface="Segoe UI"/>
              </a:rPr>
              <a:t>Z jakich aplikacji inwestycyjnych Pan(i) korzysta i co zadecydowalo o ich wyborze?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Scenariusz wywiadu – B. Część główna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08176"/>
            <a:ext cx="11064240" cy="5029200"/>
          </a:xfrm>
          <a:prstGeom prst="round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4A5A"/>
                </a:solidFill>
                <a:latin typeface="Segoe UI"/>
              </a:defRPr>
            </a:pPr>
            <a:r>
              <a:t>PYTANIA GLOWNE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9875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3.  </a:t>
            </a:r>
            <a:r>
              <a:rPr sz="1200">
                <a:solidFill>
                  <a:srgbClr val="1A1A2E"/>
                </a:solidFill>
                <a:latin typeface="Segoe UI"/>
              </a:rPr>
              <a:t>Prosze opowiedziec o pierwszej transakcji krok po kroku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4.  </a:t>
            </a:r>
            <a:r>
              <a:rPr sz="1200">
                <a:solidFill>
                  <a:srgbClr val="1A1A2E"/>
                </a:solidFill>
                <a:latin typeface="Segoe UI"/>
              </a:rPr>
              <a:t>Jak aplikacja pomaga zrozumiec, w co inwestowane sa pieniadze?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5.  </a:t>
            </a:r>
            <a:r>
              <a:rPr sz="1200">
                <a:solidFill>
                  <a:srgbClr val="1A1A2E"/>
                </a:solidFill>
                <a:latin typeface="Segoe UI"/>
              </a:rPr>
              <a:t>Czy zdarzyla sie decyzja pod wplywem impulsu z ekranu glownego?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6.  </a:t>
            </a:r>
            <a:r>
              <a:rPr sz="1200">
                <a:solidFill>
                  <a:srgbClr val="1A1A2E"/>
                </a:solidFill>
                <a:latin typeface="Segoe UI"/>
              </a:rPr>
              <a:t>Prosze wyjasnic swoimi slowami czym jest ETF lub akcja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7.  </a:t>
            </a:r>
            <a:r>
              <a:rPr sz="1200">
                <a:solidFill>
                  <a:srgbClr val="1A1A2E"/>
                </a:solidFill>
                <a:latin typeface="Segoe UI"/>
              </a:rPr>
              <a:t>Jak reaguje Pan(i) na komunikaty o ryzyku utraty kapitalu?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8.  </a:t>
            </a:r>
            <a:r>
              <a:rPr sz="1200">
                <a:solidFill>
                  <a:srgbClr val="1A1A2E"/>
                </a:solidFill>
                <a:latin typeface="Segoe UI"/>
              </a:rPr>
              <a:t>Co robi Pan(i) gdy portfel jest na czerwono (strata)?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00B4D8"/>
                </a:solidFill>
                <a:latin typeface="Segoe UI"/>
              </a:rPr>
              <a:t>9.  </a:t>
            </a:r>
            <a:r>
              <a:rPr sz="1200">
                <a:solidFill>
                  <a:srgbClr val="1A1A2E"/>
                </a:solidFill>
                <a:latin typeface="Segoe UI"/>
              </a:rPr>
              <a:t>Czy wiedza o finansach wzrosla od momentu uzycia aplikacji?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Scenariusz wywiadu – C. Zakończenie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08176"/>
            <a:ext cx="11064240" cy="5029200"/>
          </a:xfrm>
          <a:prstGeom prst="round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4A5A"/>
                </a:solidFill>
                <a:latin typeface="Segoe UI"/>
              </a:defRPr>
            </a:pPr>
            <a:r>
              <a:t>PYTANIA ZAMYKAJACE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9875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300" b="1">
                <a:solidFill>
                  <a:srgbClr val="00B4D8"/>
                </a:solidFill>
                <a:latin typeface="Segoe UI"/>
              </a:rPr>
              <a:t>10.  </a:t>
            </a:r>
            <a:r>
              <a:rPr sz="1300">
                <a:solidFill>
                  <a:srgbClr val="1A1A2E"/>
                </a:solidFill>
                <a:latin typeface="Segoe UI"/>
              </a:rPr>
              <a:t>Czy uwaza Pan(i), ze aplikacje powinny sprawdzac poziom wiedzy uzytkownika przed umozliwieniem zakupu instrumentow finansowych?</a:t>
            </a:r>
          </a:p>
          <a:p>
            <a:pPr>
              <a:spcAft>
                <a:spcPts val="2000"/>
              </a:spcAft>
            </a:pPr>
            <a:r>
              <a:rPr sz="1300" b="1">
                <a:solidFill>
                  <a:srgbClr val="00B4D8"/>
                </a:solidFill>
                <a:latin typeface="Segoe UI"/>
              </a:rPr>
              <a:t>11.  </a:t>
            </a:r>
            <a:r>
              <a:rPr sz="1300">
                <a:solidFill>
                  <a:srgbClr val="1A1A2E"/>
                </a:solidFill>
                <a:latin typeface="Segoe UI"/>
              </a:rPr>
              <a:t>Na co ostrzeglby/ostrzeglaby Pan(i) znajomego, ktory nie ma wiedzy finansowej, a chce zaczac inwestowac przez aplikacje?</a:t>
            </a:r>
          </a:p>
          <a:p>
            <a:pPr>
              <a:spcAft>
                <a:spcPts val="2000"/>
              </a:spcAft>
            </a:pPr>
            <a:r>
              <a:rPr sz="1300" b="1">
                <a:solidFill>
                  <a:srgbClr val="00B4D8"/>
                </a:solidFill>
                <a:latin typeface="Segoe UI"/>
              </a:rPr>
              <a:t>12.  </a:t>
            </a:r>
            <a:r>
              <a:rPr sz="1300">
                <a:solidFill>
                  <a:srgbClr val="1A1A2E"/>
                </a:solidFill>
                <a:latin typeface="Segoe UI"/>
              </a:rPr>
              <a:t>Czy jest jeszcze cos waznego zwiazanego z tym tematem, o czym nie zapytalem, a chcialby/chcialaby Pan(i) powiedziec?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Ograniczenia badania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36576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5216" y="1408176"/>
            <a:ext cx="11064240" cy="5029200"/>
          </a:xfrm>
          <a:prstGeom prst="round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Segoe UI"/>
              </a:defRPr>
            </a:pPr>
            <a:r>
              <a:t>1.  Efekt Dunninga-Krugera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03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4A4A5A"/>
                </a:solidFill>
                <a:latin typeface="Segoe UI"/>
              </a:rPr>
              <a:t>Respondenci moga przeceniac swoja wiedze, szczegolnie w okresie hossy</a:t>
            </a:r>
          </a:p>
          <a:p>
            <a:pPr>
              <a:spcAft>
                <a:spcPts val="6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4A4A5A"/>
                </a:solidFill>
                <a:latin typeface="Segoe UI"/>
              </a:rPr>
              <a:t>Zludzenie kontroli wynikajace z prostoty interfejsu aplikacji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08960"/>
            <a:ext cx="10058400" cy="18288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Segoe UI"/>
              </a:defRPr>
            </a:pPr>
            <a:r>
              <a:t>2.  Trudnosc ewaluacji wiedzy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749039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4A4A5A"/>
                </a:solidFill>
                <a:latin typeface="Segoe UI"/>
              </a:rPr>
              <a:t>Wywiad poglebiony nie jest testem wiedzy - nie mozna stosowac punktacji</a:t>
            </a:r>
          </a:p>
          <a:p>
            <a:pPr>
              <a:spcAft>
                <a:spcPts val="6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4A4A5A"/>
                </a:solidFill>
                <a:latin typeface="Segoe UI"/>
              </a:rPr>
              <a:t>Respondent nie moze czuc sie jak na egzaminie, co ogranicza weryfikacje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80"/>
            <a:ext cx="10058400" cy="18288"/>
          </a:xfrm>
          <a:prstGeom prst="rect">
            <a:avLst/>
          </a:prstGeom>
          <a:solidFill>
            <a:srgbClr val="E0E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Segoe UI"/>
              </a:defRPr>
            </a:pPr>
            <a:r>
              <a:t>3.  Bariera technologiczna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94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4A4A5A"/>
                </a:solidFill>
                <a:latin typeface="Segoe UI"/>
              </a:rPr>
              <a:t>Rozne interfejsy aplikacji - odpowiedzi zaleza od konkretnego rozwiazania</a:t>
            </a:r>
          </a:p>
          <a:p>
            <a:pPr>
              <a:spcAft>
                <a:spcPts val="600"/>
              </a:spcAft>
            </a:pPr>
            <a:r>
              <a:rPr sz="800">
                <a:solidFill>
                  <a:srgbClr val="00B4D8"/>
                </a:solidFill>
                <a:latin typeface="Segoe UI"/>
              </a:rPr>
              <a:t>■  </a:t>
            </a:r>
            <a:r>
              <a:rPr sz="1100">
                <a:solidFill>
                  <a:srgbClr val="4A4A5A"/>
                </a:solidFill>
                <a:latin typeface="Segoe UI"/>
              </a:rPr>
              <a:t>Trudnosc znalezienia wspolnych mianownikow miedzy platformami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