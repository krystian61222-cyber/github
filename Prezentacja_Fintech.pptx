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058400" y="-731520"/>
            <a:ext cx="2743200" cy="2743200"/>
          </a:xfrm>
          <a:prstGeom prst="ellipse">
            <a:avLst/>
          </a:prstGeom>
          <a:solidFill>
            <a:srgbClr val="00B4D8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914400" y="5029200"/>
            <a:ext cx="2286000" cy="2286000"/>
          </a:xfrm>
          <a:prstGeom prst="ellipse">
            <a:avLst/>
          </a:prstGeom>
          <a:solidFill>
            <a:srgbClr val="F4A261">
              <a:alpha val="9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Segoe UI"/>
              </a:defRPr>
            </a:pPr>
            <a:r>
              <a:t>Edukacja czy automatyzacja?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01752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  <a:latin typeface="Segoe UI"/>
              </a:defRPr>
            </a:pPr>
            <a:r>
              <a:t>Wpływ korzystania z aplikacji fintechowych i robo-doradców na poziom wiedzy finansowej oraz świadomość ryzyka inwestorów indywidualnych.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00B4D8"/>
                </a:solidFill>
                <a:latin typeface="Segoe UI"/>
              </a:defRPr>
            </a:pPr>
            <a:r>
              <a:t>Projekt Badania Jakościowego: Fintech a świadomość inwestycyjna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058400" y="-731520"/>
            <a:ext cx="2743200" cy="2743200"/>
          </a:xfrm>
          <a:prstGeom prst="ellipse">
            <a:avLst/>
          </a:prstGeom>
          <a:solidFill>
            <a:srgbClr val="1B2838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914400" y="5029200"/>
            <a:ext cx="2286000" cy="2286000"/>
          </a:xfrm>
          <a:prstGeom prst="ellipse">
            <a:avLst/>
          </a:prstGeom>
          <a:solidFill>
            <a:srgbClr val="F4A261">
              <a:alpha val="9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838"/>
                </a:solidFill>
                <a:latin typeface="Segoe UI"/>
              </a:defRPr>
            </a:pPr>
            <a:r>
              <a:t>Uzasadnienie wyboru tematu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3474720" cy="4572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280160"/>
            <a:ext cx="3474720" cy="109728"/>
          </a:xfrm>
          <a:prstGeom prst="round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459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Segoe UI"/>
              </a:defRPr>
            </a:pPr>
            <a:r>
              <a:t>Dlaczego aktualny?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19456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B2B3C"/>
                </a:solidFill>
                <a:latin typeface="Segoe UI"/>
              </a:defRPr>
            </a:pPr>
            <a:r>
              <a:t>• Boom na aplikacje (Revolut, eToro, XTB) + robo-doradztwo (Finax, Portu)</a:t>
            </a:r>
          </a:p>
          <a:p>
            <a:pPr>
              <a:spcAft>
                <a:spcPts val="400"/>
              </a:spcAft>
              <a:defRPr sz="1100">
                <a:solidFill>
                  <a:srgbClr val="1B2B3C"/>
                </a:solidFill>
                <a:latin typeface="Segoe UI"/>
              </a:defRPr>
            </a:pPr>
            <a:r>
              <a:t>• Niskie bariery wejścia, gamifikacja</a:t>
            </a:r>
          </a:p>
          <a:p>
            <a:pPr>
              <a:spcAft>
                <a:spcPts val="400"/>
              </a:spcAft>
              <a:defRPr sz="1100">
                <a:solidFill>
                  <a:srgbClr val="1B2B3C"/>
                </a:solidFill>
                <a:latin typeface="Segoe UI"/>
              </a:defRPr>
            </a:pPr>
            <a:r>
              <a:t>• Pytania o świadomość ryzyka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280160"/>
            <a:ext cx="3474720" cy="4572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97680" y="1280160"/>
            <a:ext cx="3474720" cy="109728"/>
          </a:xfrm>
          <a:prstGeom prst="round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4A261"/>
                </a:solidFill>
                <a:latin typeface="Segoe UI"/>
              </a:defRPr>
            </a:pPr>
            <a:r>
              <a:t>Kogo dotyczy?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19456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B2B3C"/>
                </a:solidFill>
                <a:latin typeface="Segoe UI"/>
              </a:defRPr>
            </a:pPr>
            <a:r>
              <a:t>• Początkujących inwestorów detalicznych</a:t>
            </a:r>
          </a:p>
          <a:p>
            <a:pPr>
              <a:spcAft>
                <a:spcPts val="400"/>
              </a:spcAft>
              <a:defRPr sz="1100">
                <a:solidFill>
                  <a:srgbClr val="1B2B3C"/>
                </a:solidFill>
                <a:latin typeface="Segoe UI"/>
              </a:defRPr>
            </a:pPr>
            <a:r>
              <a:t>• Szukają alternatywy dla lokat</a:t>
            </a:r>
          </a:p>
          <a:p>
            <a:pPr>
              <a:spcAft>
                <a:spcPts val="400"/>
              </a:spcAft>
              <a:defRPr sz="1100">
                <a:solidFill>
                  <a:srgbClr val="1B2B3C"/>
                </a:solidFill>
                <a:latin typeface="Segoe UI"/>
              </a:defRPr>
            </a:pPr>
            <a:r>
              <a:t>• Pierwszy kontakt z rynkiem przez smartfon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280160"/>
            <a:ext cx="3474720" cy="4572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46720" y="1280160"/>
            <a:ext cx="3474720" cy="109728"/>
          </a:xfrm>
          <a:prstGeom prst="round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6459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2838"/>
                </a:solidFill>
                <a:latin typeface="Segoe UI"/>
              </a:defRPr>
            </a:pPr>
            <a:r>
              <a:t>Jakie ma znaczenie?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19456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B2B3C"/>
                </a:solidFill>
                <a:latin typeface="Segoe UI"/>
              </a:defRPr>
            </a:pPr>
            <a:r>
              <a:t>• Dla KNF – ochrona konsumenta</a:t>
            </a:r>
          </a:p>
          <a:p>
            <a:pPr>
              <a:spcAft>
                <a:spcPts val="400"/>
              </a:spcAft>
              <a:defRPr sz="1100">
                <a:solidFill>
                  <a:srgbClr val="1B2B3C"/>
                </a:solidFill>
                <a:latin typeface="Segoe UI"/>
              </a:defRPr>
            </a:pPr>
            <a:r>
              <a:t>• Dla rynku – ryzyko paniki tłumu</a:t>
            </a:r>
          </a:p>
          <a:p>
            <a:pPr>
              <a:spcAft>
                <a:spcPts val="400"/>
              </a:spcAft>
              <a:defRPr sz="1100">
                <a:solidFill>
                  <a:srgbClr val="1B2B3C"/>
                </a:solidFill>
                <a:latin typeface="Segoe UI"/>
              </a:defRPr>
            </a:pPr>
            <a:r>
              <a:t>• Dla twórców – odpowiedzialne projektowanie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058400" y="-731520"/>
            <a:ext cx="2743200" cy="2743200"/>
          </a:xfrm>
          <a:prstGeom prst="ellipse">
            <a:avLst/>
          </a:prstGeom>
          <a:solidFill>
            <a:srgbClr val="1B2838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914400" y="5029200"/>
            <a:ext cx="2286000" cy="2286000"/>
          </a:xfrm>
          <a:prstGeom prst="ellipse">
            <a:avLst/>
          </a:prstGeom>
          <a:solidFill>
            <a:srgbClr val="F4A261">
              <a:alpha val="9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838"/>
                </a:solidFill>
                <a:latin typeface="Segoe UI"/>
              </a:defRPr>
            </a:pPr>
            <a:r>
              <a:t>Cel badania i pytania badawcze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5029200" cy="475488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029200" cy="109728"/>
          </a:xfrm>
          <a:prstGeom prst="round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373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B4D8"/>
                </a:solidFill>
                <a:latin typeface="Segoe UI"/>
              </a:defRPr>
            </a:pPr>
            <a:r>
              <a:t>Cel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86000"/>
            <a:ext cx="4389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B2B3C"/>
                </a:solidFill>
                <a:latin typeface="Segoe UI"/>
              </a:defRPr>
            </a:pPr>
            <a:r>
              <a:t>• Zrozumienie czy interakcja z platformami kształtuje wiedzę</a:t>
            </a:r>
          </a:p>
          <a:p>
            <a:pPr>
              <a:spcAft>
                <a:spcPts val="400"/>
              </a:spcAft>
              <a:defRPr sz="1300">
                <a:solidFill>
                  <a:srgbClr val="1B2B3C"/>
                </a:solidFill>
                <a:latin typeface="Segoe UI"/>
              </a:defRPr>
            </a:pPr>
            <a:r>
              <a:t>• </a:t>
            </a:r>
          </a:p>
          <a:p>
            <a:pPr>
              <a:spcAft>
                <a:spcPts val="400"/>
              </a:spcAft>
              <a:defRPr sz="1300">
                <a:solidFill>
                  <a:srgbClr val="1B2B3C"/>
                </a:solidFill>
                <a:latin typeface="Segoe UI"/>
              </a:defRPr>
            </a:pPr>
            <a:r>
              <a:t>• Czy aplikacje edukują czy usypiają czujność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7373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838"/>
                </a:solidFill>
                <a:latin typeface="Segoe UI"/>
              </a:defRPr>
            </a:pPr>
            <a:r>
              <a:t>Pytania badawcze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0" y="2377440"/>
            <a:ext cx="365760" cy="365760"/>
          </a:xfrm>
          <a:prstGeom prst="ellipse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37744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B2B3C"/>
                </a:solidFill>
                <a:latin typeface="Segoe UI"/>
              </a:defRPr>
            </a:pPr>
            <a:r>
              <a:t>Jak interfejs wpływa na poczucie zrozumienia rynku?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0" y="3749039"/>
            <a:ext cx="365760" cy="365760"/>
          </a:xfrm>
          <a:prstGeom prst="ellipse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749039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B2B3C"/>
                </a:solidFill>
                <a:latin typeface="Segoe UI"/>
              </a:defRPr>
            </a:pPr>
            <a:r>
              <a:t>Dlaczego użytkownicy podejmują decyzje – własna wiedza vs algorytmy?</a:t>
            </a:r>
          </a:p>
        </p:txBody>
      </p:sp>
      <p:sp>
        <p:nvSpPr>
          <p:cNvPr id="16" name="Oval 15"/>
          <p:cNvSpPr/>
          <p:nvPr/>
        </p:nvSpPr>
        <p:spPr>
          <a:xfrm>
            <a:off x="5943600" y="5120640"/>
            <a:ext cx="365760" cy="365760"/>
          </a:xfrm>
          <a:prstGeom prst="ellipse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512064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B2B3C"/>
                </a:solidFill>
                <a:latin typeface="Segoe UI"/>
              </a:defRPr>
            </a:pPr>
            <a:r>
              <a:t>Jak początkujący interpretują ryzyko w środowisku przypominającym gry?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058400" y="-731520"/>
            <a:ext cx="2743200" cy="2743200"/>
          </a:xfrm>
          <a:prstGeom prst="ellipse">
            <a:avLst/>
          </a:prstGeom>
          <a:solidFill>
            <a:srgbClr val="1B2838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914400" y="5029200"/>
            <a:ext cx="2286000" cy="2286000"/>
          </a:xfrm>
          <a:prstGeom prst="ellipse">
            <a:avLst/>
          </a:prstGeom>
          <a:solidFill>
            <a:srgbClr val="F4A261">
              <a:alpha val="9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838"/>
                </a:solidFill>
                <a:latin typeface="Segoe UI"/>
              </a:defRPr>
            </a:pPr>
            <a:r>
              <a:t>Charakterystyka badanych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5303520" cy="2103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303520" cy="109728"/>
          </a:xfrm>
          <a:prstGeom prst="round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373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Segoe UI"/>
              </a:defRPr>
            </a:pPr>
            <a:r>
              <a:t>Kto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B2B3C"/>
                </a:solidFill>
                <a:latin typeface="Segoe UI"/>
              </a:defRPr>
            </a:pPr>
            <a:r>
              <a:t>Osoby 25–40 lat, bez wykształcenia finansowego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5303520" cy="2103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371600"/>
            <a:ext cx="5303520" cy="109728"/>
          </a:xfrm>
          <a:prstGeom prst="round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7373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4A261"/>
                </a:solidFill>
                <a:latin typeface="Segoe UI"/>
              </a:defRPr>
            </a:pPr>
            <a:r>
              <a:t>Kryteria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37744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B2B3C"/>
                </a:solidFill>
                <a:latin typeface="Segoe UI"/>
              </a:defRPr>
            </a:pPr>
            <a:r>
              <a:t>Inwestowanie przez smartfon 12–24 mies., min. 5 transakcji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840480"/>
            <a:ext cx="5303520" cy="2103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3840480"/>
            <a:ext cx="5303520" cy="109728"/>
          </a:xfrm>
          <a:prstGeom prst="round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206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2838"/>
                </a:solidFill>
                <a:latin typeface="Segoe UI"/>
              </a:defRPr>
            </a:pPr>
            <a:r>
              <a:t>Wielkość próby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84632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B2B3C"/>
                </a:solidFill>
                <a:latin typeface="Segoe UI"/>
              </a:defRPr>
            </a:pPr>
            <a:r>
              <a:t>12–15 osób; Świeży inwestorzy najbardziej narażeni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840480"/>
            <a:ext cx="5303520" cy="2103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17920" y="3840480"/>
            <a:ext cx="5303520" cy="109728"/>
          </a:xfrm>
          <a:prstGeom prst="round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4206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4D8"/>
                </a:solidFill>
                <a:latin typeface="Segoe UI"/>
              </a:defRPr>
            </a:pPr>
            <a:r>
              <a:t>Dobór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484632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B2B3C"/>
                </a:solidFill>
                <a:latin typeface="Segoe UI"/>
              </a:defRPr>
            </a:pPr>
            <a:r>
              <a:t>Celowy + metoda kuli śnieznej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058400" y="-731520"/>
            <a:ext cx="2743200" cy="2743200"/>
          </a:xfrm>
          <a:prstGeom prst="ellipse">
            <a:avLst/>
          </a:prstGeom>
          <a:solidFill>
            <a:srgbClr val="00B4D8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914400" y="5029200"/>
            <a:ext cx="2286000" cy="2286000"/>
          </a:xfrm>
          <a:prstGeom prst="ellipse">
            <a:avLst/>
          </a:prstGeom>
          <a:solidFill>
            <a:srgbClr val="F4A261">
              <a:alpha val="9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Dlaczego wywiad pogłębiony (IDI)?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1645920"/>
            <a:ext cx="9875520" cy="1005840"/>
          </a:xfrm>
          <a:prstGeom prst="roundRect">
            <a:avLst/>
          </a:prstGeom>
          <a:solidFill>
            <a:srgbClr val="2535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71600" y="1920240"/>
            <a:ext cx="411480" cy="411480"/>
          </a:xfrm>
          <a:prstGeom prst="ellipse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9202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Finanse osobiste to tematy wrażliwe – presja społeczna w grupie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2880360"/>
            <a:ext cx="9875520" cy="1005840"/>
          </a:xfrm>
          <a:prstGeom prst="roundRect">
            <a:avLst/>
          </a:prstGeom>
          <a:solidFill>
            <a:srgbClr val="2535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371600" y="3154680"/>
            <a:ext cx="411480" cy="411480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315468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Dokładne prześledzenie zachowania i interakcji z aplikacją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4114800"/>
            <a:ext cx="9875520" cy="1005840"/>
          </a:xfrm>
          <a:prstGeom prst="roundRect">
            <a:avLst/>
          </a:prstGeom>
          <a:solidFill>
            <a:srgbClr val="2535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71600" y="4389120"/>
            <a:ext cx="411480" cy="411480"/>
          </a:xfrm>
          <a:prstGeom prst="ellipse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438912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Odtworzenie procesu decyzji krok po kroku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97280" y="5349240"/>
            <a:ext cx="9875520" cy="1005840"/>
          </a:xfrm>
          <a:prstGeom prst="roundRect">
            <a:avLst/>
          </a:prstGeom>
          <a:solidFill>
            <a:srgbClr val="2535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371600" y="5623560"/>
            <a:ext cx="411480" cy="411480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562356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Swoboda reagowania, dopytywania i pogłębiania wątków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058400" y="-731520"/>
            <a:ext cx="2743200" cy="2743200"/>
          </a:xfrm>
          <a:prstGeom prst="ellipse">
            <a:avLst/>
          </a:prstGeom>
          <a:solidFill>
            <a:srgbClr val="1B2838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914400" y="5029200"/>
            <a:ext cx="2286000" cy="2286000"/>
          </a:xfrm>
          <a:prstGeom prst="ellipse">
            <a:avLst/>
          </a:prstGeom>
          <a:solidFill>
            <a:srgbClr val="F4A261">
              <a:alpha val="9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838"/>
                </a:solidFill>
                <a:latin typeface="Segoe UI"/>
              </a:defRPr>
            </a:pPr>
            <a:r>
              <a:t>Scenariusz wywiadu – A. Wprowadzenie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10515600" cy="16459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515600" cy="109728"/>
          </a:xfrm>
          <a:prstGeom prst="round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2377440"/>
            <a:ext cx="457200" cy="457200"/>
          </a:xfrm>
          <a:prstGeom prst="ellipse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377440"/>
            <a:ext cx="8961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B2B3C"/>
                </a:solidFill>
                <a:latin typeface="Segoe UI"/>
              </a:defRPr>
            </a:pPr>
            <a:r>
              <a:t>Jakie były motywacje by lokować oszczędności poza kontem bankowym?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40480"/>
            <a:ext cx="10515600" cy="16459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10515600" cy="109728"/>
          </a:xfrm>
          <a:prstGeom prst="round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97280" y="4389120"/>
            <a:ext cx="457200" cy="457200"/>
          </a:xfrm>
          <a:prstGeom prst="ellipse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389120"/>
            <a:ext cx="8961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B2B3C"/>
                </a:solidFill>
                <a:latin typeface="Segoe UI"/>
              </a:defRPr>
            </a:pPr>
            <a:r>
              <a:t>Z jakich aplikacji Pan(i) korzysta i dlaczego?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058400" y="-731520"/>
            <a:ext cx="2743200" cy="2743200"/>
          </a:xfrm>
          <a:prstGeom prst="ellipse">
            <a:avLst/>
          </a:prstGeom>
          <a:solidFill>
            <a:srgbClr val="1B2838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914400" y="5029200"/>
            <a:ext cx="2286000" cy="2286000"/>
          </a:xfrm>
          <a:prstGeom prst="ellipse">
            <a:avLst/>
          </a:prstGeom>
          <a:solidFill>
            <a:srgbClr val="F4A261">
              <a:alpha val="9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838"/>
                </a:solidFill>
                <a:latin typeface="Segoe UI"/>
              </a:defRPr>
            </a:pPr>
            <a:r>
              <a:t>Scenariusz wywiadu – B. Część główna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1280160"/>
            <a:ext cx="347472" cy="347472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280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B2B3C"/>
                </a:solidFill>
                <a:latin typeface="Segoe UI"/>
              </a:defRPr>
            </a:pPr>
            <a:r>
              <a:t>Opowieść o pierwszej transakcji krok po kroku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2029967"/>
            <a:ext cx="347472" cy="347472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029967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B2B3C"/>
                </a:solidFill>
                <a:latin typeface="Segoe UI"/>
              </a:defRPr>
            </a:pPr>
            <a:r>
              <a:t>Jak aplikacja pomaga zrozumieć w co inwestowane są pieniądze?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2779776"/>
            <a:ext cx="347472" cy="347472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779776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B2B3C"/>
                </a:solidFill>
                <a:latin typeface="Segoe UI"/>
              </a:defRPr>
            </a:pPr>
            <a:r>
              <a:t>Decyzja pod wpływem impulsu z ekranu głównego?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3529584"/>
            <a:ext cx="347472" cy="347472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529584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B2B3C"/>
                </a:solidFill>
                <a:latin typeface="Segoe UI"/>
              </a:defRPr>
            </a:pPr>
            <a:r>
              <a:t>Wyjaśnienie swoimi słowami czym jest ETF/akcja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4279392"/>
            <a:ext cx="347472" cy="347472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2793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B2B3C"/>
                </a:solidFill>
                <a:latin typeface="Segoe UI"/>
              </a:defRPr>
            </a:pPr>
            <a:r>
              <a:t>Reakcja na komunikaty o ryzyku utraty kapitału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5029200"/>
            <a:ext cx="347472" cy="347472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5029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B2B3C"/>
                </a:solidFill>
                <a:latin typeface="Segoe UI"/>
              </a:defRPr>
            </a:pPr>
            <a:r>
              <a:t>Co robi gdy portfel jest na czerwono?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5779008"/>
            <a:ext cx="347472" cy="347472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77900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B2B3C"/>
                </a:solidFill>
                <a:latin typeface="Segoe UI"/>
              </a:defRPr>
            </a:pPr>
            <a:r>
              <a:t>Czy wiedza o finansach wzrosła od użycia aplikacji?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058400" y="-731520"/>
            <a:ext cx="2743200" cy="2743200"/>
          </a:xfrm>
          <a:prstGeom prst="ellipse">
            <a:avLst/>
          </a:prstGeom>
          <a:solidFill>
            <a:srgbClr val="1B2838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914400" y="5029200"/>
            <a:ext cx="2286000" cy="2286000"/>
          </a:xfrm>
          <a:prstGeom prst="ellipse">
            <a:avLst/>
          </a:prstGeom>
          <a:solidFill>
            <a:srgbClr val="F4A261">
              <a:alpha val="9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838"/>
                </a:solidFill>
                <a:latin typeface="Segoe UI"/>
              </a:defRPr>
            </a:pPr>
            <a:r>
              <a:t>Scenariusz wywiadu – C. Zakończenie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10515600" cy="11887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515600" cy="109728"/>
          </a:xfrm>
          <a:prstGeom prst="round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2194560"/>
            <a:ext cx="457200" cy="457200"/>
          </a:xfrm>
          <a:prstGeom prst="ellipse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194560"/>
            <a:ext cx="8961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B2B3C"/>
                </a:solidFill>
                <a:latin typeface="Segoe UI"/>
              </a:defRPr>
            </a:pPr>
            <a:r>
              <a:t>Czy aplikacje powinny sprawdzać wiedzę przed zakupem?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291840"/>
            <a:ext cx="10515600" cy="11887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3291840"/>
            <a:ext cx="10515600" cy="109728"/>
          </a:xfrm>
          <a:prstGeom prst="round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97280" y="3657600"/>
            <a:ext cx="457200" cy="457200"/>
          </a:xfrm>
          <a:prstGeom prst="ellipse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657600"/>
            <a:ext cx="8961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B2B3C"/>
                </a:solidFill>
                <a:latin typeface="Segoe UI"/>
              </a:defRPr>
            </a:pPr>
            <a:r>
              <a:t>Na co ostrzec znajomego bez wiedzy finansowej?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754880"/>
            <a:ext cx="10515600" cy="11887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4754880"/>
            <a:ext cx="10515600" cy="109728"/>
          </a:xfrm>
          <a:prstGeom prst="round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97280" y="5120640"/>
            <a:ext cx="457200" cy="457200"/>
          </a:xfrm>
          <a:prstGeom prst="ellipse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5120640"/>
            <a:ext cx="8961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B2B3C"/>
                </a:solidFill>
                <a:latin typeface="Segoe UI"/>
              </a:defRPr>
            </a:pPr>
            <a:r>
              <a:t>Czy jest jeszcze coś ważnego o czym nie zapytałem?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058400" y="-731520"/>
            <a:ext cx="2743200" cy="2743200"/>
          </a:xfrm>
          <a:prstGeom prst="ellipse">
            <a:avLst/>
          </a:prstGeom>
          <a:solidFill>
            <a:srgbClr val="00B4D8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914400" y="5029200"/>
            <a:ext cx="2286000" cy="2286000"/>
          </a:xfrm>
          <a:prstGeom prst="ellipse">
            <a:avLst/>
          </a:prstGeom>
          <a:solidFill>
            <a:srgbClr val="F4A261">
              <a:alpha val="9999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Ograniczenia badania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63040"/>
            <a:ext cx="3566160" cy="4572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463040"/>
            <a:ext cx="3566160" cy="109728"/>
          </a:xfrm>
          <a:prstGeom prst="round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B4D8"/>
                </a:solidFill>
                <a:latin typeface="Segoe UI"/>
              </a:defRPr>
            </a:pPr>
            <a:r>
              <a:t>Efekt Dunninga-Krugera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77440"/>
            <a:ext cx="2926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B2B3C"/>
                </a:solidFill>
                <a:latin typeface="Segoe UI"/>
              </a:defRPr>
            </a:pPr>
            <a:r>
              <a:t>• Przecenianie wiedzy w hossie</a:t>
            </a:r>
          </a:p>
          <a:p>
            <a:pPr>
              <a:spcAft>
                <a:spcPts val="400"/>
              </a:spcAft>
              <a:defRPr sz="1100">
                <a:solidFill>
                  <a:srgbClr val="1B2B3C"/>
                </a:solidFill>
                <a:latin typeface="Segoe UI"/>
              </a:defRPr>
            </a:pPr>
            <a:r>
              <a:t>• Złudzenie kontroli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463040"/>
            <a:ext cx="3566160" cy="4572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97680" y="1463040"/>
            <a:ext cx="3566160" cy="109728"/>
          </a:xfrm>
          <a:prstGeom prst="round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18288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4A261"/>
                </a:solidFill>
                <a:latin typeface="Segoe UI"/>
              </a:defRPr>
            </a:pPr>
            <a:r>
              <a:t>Trudność ewaluacji wiedzy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377440"/>
            <a:ext cx="2926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B2B3C"/>
                </a:solidFill>
                <a:latin typeface="Segoe UI"/>
              </a:defRPr>
            </a:pPr>
            <a:r>
              <a:t>• Wywiad nie jest testem</a:t>
            </a:r>
          </a:p>
          <a:p>
            <a:pPr>
              <a:spcAft>
                <a:spcPts val="400"/>
              </a:spcAft>
              <a:defRPr sz="1100">
                <a:solidFill>
                  <a:srgbClr val="1B2B3C"/>
                </a:solidFill>
                <a:latin typeface="Segoe UI"/>
              </a:defRPr>
            </a:pPr>
            <a:r>
              <a:t>• Badany nie może czuć się jak na egzaminie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463040"/>
            <a:ext cx="3566160" cy="4572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38160" y="1463040"/>
            <a:ext cx="356616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18288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2838"/>
                </a:solidFill>
                <a:latin typeface="Segoe UI"/>
              </a:defRPr>
            </a:pPr>
            <a:r>
              <a:t>Bariera technologiczna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377440"/>
            <a:ext cx="2926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B2B3C"/>
                </a:solidFill>
                <a:latin typeface="Segoe UI"/>
              </a:defRPr>
            </a:pPr>
            <a:r>
              <a:t>• Różne interfejsy</a:t>
            </a:r>
          </a:p>
          <a:p>
            <a:pPr>
              <a:spcAft>
                <a:spcPts val="400"/>
              </a:spcAft>
              <a:defRPr sz="1100">
                <a:solidFill>
                  <a:srgbClr val="1B2B3C"/>
                </a:solidFill>
                <a:latin typeface="Segoe UI"/>
              </a:defRPr>
            </a:pPr>
            <a:r>
              <a:t>• Odpowiedzi zależą od rozwiązania</a:t>
            </a:r>
          </a:p>
          <a:p>
            <a:pPr>
              <a:spcAft>
                <a:spcPts val="400"/>
              </a:spcAft>
              <a:defRPr sz="1100">
                <a:solidFill>
                  <a:srgbClr val="1B2B3C"/>
                </a:solidFill>
                <a:latin typeface="Segoe UI"/>
              </a:defRPr>
            </a:pPr>
            <a:r>
              <a:t>• Trudność wspólnych mianowników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