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371600" y="-1371600"/>
            <a:ext cx="4114800" cy="4114800"/>
          </a:xfrm>
          <a:prstGeom prst="ellipse">
            <a:avLst/>
          </a:prstGeom>
          <a:solidFill>
            <a:srgbClr val="00B4D8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01200" y="4572000"/>
            <a:ext cx="3657600" cy="3657600"/>
          </a:xfrm>
          <a:prstGeom prst="ellipse">
            <a:avLst/>
          </a:prstGeom>
          <a:solidFill>
            <a:srgbClr val="F4A261">
              <a:alpha val="1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828800"/>
            <a:ext cx="2743200" cy="2743200"/>
          </a:xfrm>
          <a:prstGeom prst="ellipse">
            <a:avLst/>
          </a:prstGeom>
          <a:solidFill>
            <a:srgbClr val="00B4D8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1828800"/>
            <a:ext cx="4846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418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200"/>
              </a:spcAft>
              <a:defRPr sz="4400" b="1">
                <a:solidFill>
                  <a:srgbClr val="FFFFFF"/>
                </a:solidFill>
              </a:defRPr>
            </a:pPr>
            <a:r>
              <a:t>„Edukacja czy automatyzacja?”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85039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200"/>
              </a:spcAft>
              <a:defRPr sz="1800" b="0">
                <a:solidFill>
                  <a:srgbClr val="ADD8E6"/>
                </a:solidFill>
              </a:defRPr>
            </a:pPr>
            <a:r>
              <a:t>Wpływ korzystania z aplikacji fintechowych i robo-doradców na poziom wiedzy finansowej oraz świadomość ryzyka inwestorów indywidualnych.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0" y="4937760"/>
            <a:ext cx="4846320" cy="457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52120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99AABB"/>
                </a:solidFill>
              </a:defRPr>
            </a:pPr>
            <a:r>
              <a:t>Projekt Badania Jakościowego: Fintech a świadomość inwestycyjna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217920"/>
            <a:ext cx="1371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-1371600"/>
            <a:ext cx="3200400" cy="3200400"/>
          </a:xfrm>
          <a:prstGeom prst="ellipse">
            <a:avLst/>
          </a:prstGeom>
          <a:solidFill>
            <a:srgbClr val="00B4D8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3000" b="1">
                <a:solidFill>
                  <a:srgbClr val="1B2838"/>
                </a:solidFill>
              </a:defRPr>
            </a:pPr>
            <a:r>
              <a:t>Uzasadnienie wyboru tematu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22860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35661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356616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00B4D8"/>
                </a:solidFill>
              </a:defRPr>
            </a:pPr>
            <a:r>
              <a:t>Dlaczego aktualny?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Boom na aplikacje inwestycyjne (Revolut, eToro, XTB) oraz robo-doradztwo (Finax, Portu)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Niskie bariery wejścia, brak minimalnych kwot, „gamifikacja” interfejsów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Rodzi pytania o rzeczywistą świadomość ryzyka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280160"/>
            <a:ext cx="35661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80160"/>
            <a:ext cx="356616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F4A261"/>
                </a:solidFill>
              </a:defRPr>
            </a:pPr>
            <a:r>
              <a:t>Kogo dotyczy?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1031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Początkujących inwestorów detalicznych i gospodarstw domowych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Szukają alternatywy dla nisko oprocentowanych lokat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Pierwszy kontakt z rynkiem kapitałowym przez smartfon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280160"/>
            <a:ext cx="356616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80160"/>
            <a:ext cx="3566160" cy="73152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554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1600" b="1">
                <a:solidFill>
                  <a:srgbClr val="1B2838"/>
                </a:solidFill>
              </a:defRPr>
            </a:pPr>
            <a:r>
              <a:t>Jakie ma znaczenie?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103120"/>
            <a:ext cx="32004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Dla regulatorów (KNF) – skuteczność ostrzeżeń i ochrona konsumenta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Dla rynku – ocena ryzyka „paniki tłumu”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Dla twórców aplikacji – odpowiedzialne projektowanie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5029200"/>
            <a:ext cx="2743200" cy="2743200"/>
          </a:xfrm>
          <a:prstGeom prst="ellipse">
            <a:avLst/>
          </a:prstGeom>
          <a:solidFill>
            <a:srgbClr val="1B2838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3000" b="1">
                <a:solidFill>
                  <a:srgbClr val="1B2838"/>
                </a:solidFill>
              </a:defRPr>
            </a:pPr>
            <a:r>
              <a:t>Cel badania i pytania badawcze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22860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303520" cy="5212080"/>
          </a:xfrm>
          <a:prstGeom prst="roundRect">
            <a:avLst/>
          </a:prstGeom>
          <a:solidFill>
            <a:srgbClr val="E0F7FA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6304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800" b="1">
                <a:solidFill>
                  <a:srgbClr val="00B4D8"/>
                </a:solidFill>
              </a:defRPr>
            </a:pPr>
            <a:r>
              <a:t>Cel: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0">
                <a:solidFill>
                  <a:srgbClr val="2D3436"/>
                </a:solidFill>
              </a:defRPr>
            </a:pPr>
            <a:r>
              <a:t>Zrozumienie, czy i w jaki sposób interakcja z nowoczesnymi platformami inwestycyjnymi kształtuje rzeczywistą wiedzę finansową użytkowników. Zbadanie, czy aplikacje te pełnią funkcję edukacyjną, budując świadomość rynkową, czy raczej zwalniają użytkownika z myślenia, usypiając czujność.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280160"/>
            <a:ext cx="566928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800" b="1">
                <a:solidFill>
                  <a:srgbClr val="F4A261"/>
                </a:solidFill>
              </a:defRPr>
            </a:pPr>
            <a:r>
              <a:t>Pytania badawcze: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2011680"/>
            <a:ext cx="365760" cy="36576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196596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W jaki sposób interfejs i funkcjonalności aplikacji finansowych wpływają na poczucie zrozumienia rynku i pewność siebie inwestorów indywidualnych?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3200400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154680"/>
            <a:ext cx="45720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Dlaczego użytkownicy podejmują decyzje o zakupie konkretnych instrumentów – w jakim stopniu opierają się na własnej wiedzy, a w jakim na sugestiach algorytmów i łatwości „kliknięcia”?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4480560"/>
            <a:ext cx="365760" cy="36576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4348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Jak początkujący inwestorzy rozumieją i interpretują ryzyko utraty kapitału w środowisku aplikacji, które przypominają gry mobilne lub platformy społecznościowe?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875520" y="4572000"/>
            <a:ext cx="3200400" cy="3200400"/>
          </a:xfrm>
          <a:prstGeom prst="ellipse">
            <a:avLst/>
          </a:prstGeom>
          <a:solidFill>
            <a:srgbClr val="F4A26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9144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3000" b="1">
                <a:solidFill>
                  <a:srgbClr val="1B2838"/>
                </a:solidFill>
              </a:defRPr>
            </a:pPr>
            <a:r>
              <a:t>Charakterystyka badanych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60120"/>
            <a:ext cx="2286000" cy="457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00B4D8"/>
                </a:solidFill>
              </a:defRPr>
            </a:pPr>
            <a:r>
              <a:t>Kto będzie rozmówcą: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Osoby dorosłe (25–40 lat), zarządzające własnym budżetem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Bez wykształcenia kierunkowego (finansowego/ekonomicznego)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48640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173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F4A261"/>
                </a:solidFill>
              </a:defRPr>
            </a:pPr>
            <a:r>
              <a:t>Kryteria włączające: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Inwestowanie przez smartfon w ciągu ostatnich 12–24 miesięcy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Minimum 5 zrealizowanych transakcji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39776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B2838"/>
                </a:solidFill>
              </a:defRPr>
            </a:pPr>
            <a:r>
              <a:t>Wielkość próby: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12–15 osób (nasycenie informacyjne)</a:t>
            </a:r>
          </a:p>
          <a:p>
            <a:pPr algn="l">
              <a:spcBef>
                <a:spcPts val="1200"/>
              </a:spcBef>
              <a:spcAft>
                <a:spcPts val="200"/>
              </a:spcAft>
              <a:defRPr sz="1500" b="1">
                <a:solidFill>
                  <a:srgbClr val="1B2838"/>
                </a:solidFill>
              </a:defRPr>
            </a:pPr>
            <a:r>
              <a:t>Dlaczego ta grupa: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„Świeży” inwestorzy najbardziej narażeni na skutki braku edukacji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840480"/>
            <a:ext cx="5486400" cy="2560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977639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1">
                <a:solidFill>
                  <a:srgbClr val="1B2838"/>
                </a:solidFill>
              </a:defRPr>
            </a:pPr>
            <a:r>
              <a:t>Dobór próby:</a:t>
            </a:r>
          </a:p>
          <a:p>
            <a:pPr algn="l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Celowy (selekcja wg kryteriów stażu i aplikacji)</a:t>
            </a:r>
          </a:p>
          <a:p>
            <a:pPr algn="l">
              <a:spcBef>
                <a:spcPts val="400"/>
              </a:spcBef>
              <a:spcAft>
                <a:spcPts val="200"/>
              </a:spcAft>
              <a:defRPr sz="1300" b="0">
                <a:solidFill>
                  <a:srgbClr val="2D3436"/>
                </a:solidFill>
              </a:defRPr>
            </a:pPr>
            <a:r>
              <a:t>• Połączony z metodą kuli śnieżnej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144000" y="-13716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5029200"/>
            <a:ext cx="3200400" cy="3200400"/>
          </a:xfrm>
          <a:prstGeom prst="ellipse">
            <a:avLst/>
          </a:prstGeom>
          <a:solidFill>
            <a:srgbClr val="F4A26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Dlaczego wywiad pogłębiony (IDI)?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0972800" cy="105156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22960" y="1645920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150876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Finanse osobiste (straty, błędy, brak wiedzy) to tematy mocno wrażliwe – w grupie uczestnicy ulegaliby presji społecznej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51760"/>
            <a:ext cx="10972800" cy="105156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60" y="2926080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7889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Zależy nam na bardzo dokładnym prześledzeniu zachowania użytkownika i jego interakcji z aplikacją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31920"/>
            <a:ext cx="10972800" cy="105156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4206240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406908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Chcemy, żeby rozmówca odtworzył proces podejmowania konkretnej decyzji inwestycyjnej krok po kroku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79"/>
            <a:ext cx="10972800" cy="105156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60" y="5486399"/>
            <a:ext cx="411480" cy="41148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5349239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FFFFFF"/>
                </a:solidFill>
              </a:defRPr>
            </a:pPr>
            <a:r>
              <a:t>Tylko w IDI mamy swobodę, żeby na bieżąco reagować, dopytywać o detale i pogłębiać wątki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058400" y="4572000"/>
            <a:ext cx="2743200" cy="2743200"/>
          </a:xfrm>
          <a:prstGeom prst="ellipse">
            <a:avLst/>
          </a:prstGeom>
          <a:solidFill>
            <a:srgbClr val="00B4D8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2800" b="1">
                <a:solidFill>
                  <a:srgbClr val="1B2838"/>
                </a:solidFill>
              </a:defRPr>
            </a:pPr>
            <a:r>
              <a:t>Scenariusz wywiadu – A. Wprowadzenie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2860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828800" cy="457200"/>
          </a:xfrm>
          <a:prstGeom prst="roundRect">
            <a:avLst/>
          </a:prstGeom>
          <a:solidFill>
            <a:srgbClr val="00B4D8"/>
          </a:solidFill>
          <a:ln w="12700">
            <a:solidFill>
              <a:srgbClr val="00B4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1615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</a:defRPr>
            </a:pPr>
            <a:r>
              <a:t>CZĘŚĆ 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20240"/>
            <a:ext cx="10972800" cy="16459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468880"/>
            <a:ext cx="502920" cy="5029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19456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2D3436"/>
                </a:solidFill>
              </a:defRPr>
            </a:pPr>
            <a:r>
              <a:t>Jakie były Pana/Pani główne motywacje, żeby w ogóle zacząć lokować swoje oszczędności poza standardowym kontem w banku?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10972800" cy="164592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4480560"/>
            <a:ext cx="502920" cy="5029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20624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600" b="0">
                <a:solidFill>
                  <a:srgbClr val="2D3436"/>
                </a:solidFill>
              </a:defRPr>
            </a:pPr>
            <a:r>
              <a:t>Z jakich aplikacji lub platform inwestycyjnych Pan(i) obecnie korzysta i dlaczego padł wybór akurat na nie?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914400" y="-914400"/>
            <a:ext cx="2743200" cy="2743200"/>
          </a:xfrm>
          <a:prstGeom prst="ellipse">
            <a:avLst/>
          </a:prstGeom>
          <a:solidFill>
            <a:srgbClr val="F4A261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82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2600" b="1">
                <a:solidFill>
                  <a:srgbClr val="1B2838"/>
                </a:solidFill>
              </a:defRPr>
            </a:pPr>
            <a:r>
              <a:t>Scenariusz wywiadu – B. Część główna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777240"/>
            <a:ext cx="2286000" cy="36576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005840"/>
            <a:ext cx="1828800" cy="411480"/>
          </a:xfrm>
          <a:prstGeom prst="roundRect">
            <a:avLst/>
          </a:prstGeom>
          <a:solidFill>
            <a:srgbClr val="F4A261"/>
          </a:solidFill>
          <a:ln w="12700">
            <a:solidFill>
              <a:srgbClr val="F4A2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024128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defRPr sz="1000" b="1">
                <a:solidFill>
                  <a:srgbClr val="FFFFFF"/>
                </a:solidFill>
              </a:defRPr>
            </a:pPr>
            <a:r>
              <a:t>CZĘŚĆ B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554480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1508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Proszę opowiedzieć mi o swojej pierwszej transakcji lub założeniu portfela w aplikacji. Jak to wyglądało krok po kroku i jak się Pan(i) wtedy czuł(a)?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304288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25856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W jaki sposób aplikacja, z której Pan(i) korzysta, pomaga (lub nie) zrozumieć, w co dokładnie inwestowane są pieniądze?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054096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0837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Zdarzyło się Panu(i) podjąć decyzję o zainwestowaniu w coś pod wpływem impulsu, bo zobaczył(a) Pan(i) to na ekranie głównym aplikacji?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03903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758183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Gdyby miał(a) Pan(i) swoimi słowami wyjaśnić, czym jest instrument, w który Pan(i) inwestuje (np. ETF, akcja) – jak by to Pan(i) opisał(a)?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553712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50799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Aplikacje często pokazują komunikaty o ryzyku utraty kapitału. Jak Pan(i) reaguje na te komunikaty w momencie podejmowania decyzji o zakupie?</a:t>
            </a:r>
          </a:p>
        </p:txBody>
      </p:sp>
      <p:sp>
        <p:nvSpPr>
          <p:cNvPr id="19" name="Oval 18"/>
          <p:cNvSpPr/>
          <p:nvPr/>
        </p:nvSpPr>
        <p:spPr>
          <a:xfrm>
            <a:off x="548640" y="5303520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257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Co się dzieje, gdy wchodzi Pan(i) do aplikacji i widzi, że cały wykres portfela jest „na czerwono”? Co Pan(i) wtedy robi i dlaczego?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6053328"/>
            <a:ext cx="365760" cy="36576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600760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2D3436"/>
                </a:solidFill>
              </a:defRPr>
            </a:pPr>
            <a:r>
              <a:t>Czy uważa Pan(i), że od kiedy używa Pan(i) tej aplikacji, Pana/Pani wiedza o finansach i ekonomii wzrosła? Skąd to przekonanie?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-1371600"/>
            <a:ext cx="3200400" cy="3200400"/>
          </a:xfrm>
          <a:prstGeom prst="ellipse">
            <a:avLst/>
          </a:prstGeom>
          <a:solidFill>
            <a:srgbClr val="1B2838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2800" b="1">
                <a:solidFill>
                  <a:srgbClr val="1B2838"/>
                </a:solidFill>
              </a:defRPr>
            </a:pPr>
            <a:r>
              <a:t>Scenariusz wywiadu – C. Zakończenie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914400"/>
            <a:ext cx="2286000" cy="45720"/>
          </a:xfrm>
          <a:prstGeom prst="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188720"/>
            <a:ext cx="1828800" cy="457200"/>
          </a:xfrm>
          <a:prstGeom prst="roundRect">
            <a:avLst/>
          </a:prstGeom>
          <a:solidFill>
            <a:srgbClr val="1B2838"/>
          </a:solidFill>
          <a:ln w="12700">
            <a:solidFill>
              <a:srgbClr val="1B28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16152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  <a:defRPr sz="1100" b="1">
                <a:solidFill>
                  <a:srgbClr val="FFFFFF"/>
                </a:solidFill>
              </a:defRPr>
            </a:pPr>
            <a:r>
              <a:t>CZĘŚĆ 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828800"/>
            <a:ext cx="10972800" cy="12801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2194560"/>
            <a:ext cx="502920" cy="50292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01168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</a:defRPr>
            </a:pPr>
            <a:r>
              <a:t>Czy uważa Pan(i), że takie aplikacje powinny przed pozwoleniem na zakup sprawdzać wiedzę użytkownika (np. krótkim quizem), czy inwestowanie powinno być dostępne dla każdego bez ograniczeń? Dlaczego?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83280"/>
            <a:ext cx="10972800" cy="12801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49040"/>
            <a:ext cx="502920" cy="50292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5661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</a:defRPr>
            </a:pPr>
            <a:r>
              <a:t>Gdyby znajomy bez żadnej wiedzy o finansach zapytał Pana(ią), czy warto zacząć korzystać z tej samej aplikacji – na co uważałby/aby Pan(i) za konieczne, by go ostrzec?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937760"/>
            <a:ext cx="10972800" cy="128016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DEE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5303520"/>
            <a:ext cx="502920" cy="502920"/>
          </a:xfrm>
          <a:prstGeom prst="ellipse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51206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500" b="0">
                <a:solidFill>
                  <a:srgbClr val="2D3436"/>
                </a:solidFill>
              </a:defRPr>
            </a:pPr>
            <a:r>
              <a:t>Zbliżamy się do końca naszej rozmowy. Czy jest jeszcze coś ważnego w kwestii Pana/Pani doświadczeń z tymi aplikacjami, o co nie zapytałem?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3657600" cy="3657600"/>
          </a:xfrm>
          <a:prstGeom prst="ellipse">
            <a:avLst/>
          </a:prstGeom>
          <a:solidFill>
            <a:srgbClr val="00B4D8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4572000"/>
            <a:ext cx="3200400" cy="3200400"/>
          </a:xfrm>
          <a:prstGeom prst="ellipse">
            <a:avLst/>
          </a:prstGeom>
          <a:solidFill>
            <a:srgbClr val="F4A261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  <a:spcAft>
                <a:spcPts val="200"/>
              </a:spcAft>
              <a:defRPr sz="3000" b="1">
                <a:solidFill>
                  <a:srgbClr val="FFFFFF"/>
                </a:solidFill>
              </a:defRPr>
            </a:pPr>
            <a:r>
              <a:t>Ograniczenia badania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005840"/>
            <a:ext cx="2286000" cy="457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5760" y="1371600"/>
            <a:ext cx="3657600" cy="484632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3657600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00B4D8"/>
                </a:solidFill>
              </a:defRPr>
            </a:pPr>
            <a:r>
              <a:t>Efekt Dunninga-Krugera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Badani mogą znacząco przeceniać swoją wiedzę finansową, szczególnie w okresach hossy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Deklaratywny wzrost wiedzy może być w rzeczywistości tylko złudzeniem kontroli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371600"/>
            <a:ext cx="3657600" cy="484632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57600" cy="73152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F4A261"/>
                </a:solidFill>
              </a:defRPr>
            </a:pPr>
            <a:r>
              <a:t>Trudność ewaluacji wiedzy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1945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Wywiad jakościowy nie jest testem wiedzy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Trudno wyważyć dopytywanie o definicje, tak aby badany nie poczuł się jak na egzaminie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371600"/>
            <a:ext cx="3657600" cy="4846320"/>
          </a:xfrm>
          <a:prstGeom prst="roundRect">
            <a:avLst/>
          </a:prstGeom>
          <a:solidFill>
            <a:srgbClr val="223345"/>
          </a:solidFill>
          <a:ln w="12700">
            <a:solidFill>
              <a:srgbClr val="2233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371600"/>
            <a:ext cx="3657600" cy="731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400" b="1">
                <a:solidFill>
                  <a:srgbClr val="FFFFFF"/>
                </a:solidFill>
              </a:defRPr>
            </a:pPr>
            <a:r>
              <a:t>Bariera technologiczna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19456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Aplikacje różnią się interfejsem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Odpowiedzi zależą od konkretnego rozwiązania (robo-doradca vs aktywny broker)</a:t>
            </a:r>
          </a:p>
          <a:p>
            <a:pPr algn="l">
              <a:spcBef>
                <a:spcPts val="800"/>
              </a:spcBef>
              <a:spcAft>
                <a:spcPts val="200"/>
              </a:spcAft>
              <a:defRPr sz="1200" b="0">
                <a:solidFill>
                  <a:srgbClr val="FFFFFF"/>
                </a:solidFill>
              </a:defRPr>
            </a:pPr>
            <a:r>
              <a:t>• Utrudni to znalezienie wspólnych mianowników na etapie analizy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